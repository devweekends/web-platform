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EF0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WEEKENDS PRESENTS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200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MINDMASTER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Code, There's the Mind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Closed Community for Thinkers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023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44805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Members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34640" y="4023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834640" y="44805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20640" y="4023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120640" y="44805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Access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241280" y="365760"/>
            <a:ext cx="1371600" cy="1371600"/>
          </a:xfrm>
          <a:prstGeom prst="rect">
            <a:avLst/>
          </a:prstGeom>
          <a:noFill/>
          <a:ln w="25400">
            <a:solidFill>
              <a:srgbClr val="FEF0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709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devweekends.org/mindmaster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PHILOSOPHY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MindMaster Exists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73152" cy="109728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200" i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"Technical skills get you hired.</a:t>
            </a:r>
            <a:endParaRPr lang="en-US" sz="22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200" i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 frameworks make you exceptional."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best engineers we know share one thing in common: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They've mastered themselves before mastering code.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3200400" cy="100584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794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Mindset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11480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think determines what you build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06240" y="3657600"/>
            <a:ext cx="3200400" cy="100584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0" y="3794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89120" y="411480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beats intensity every time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63840" y="3657600"/>
            <a:ext cx="3200400" cy="100584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0" y="3794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0" y="411480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your 'why' before your 'what'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PILLARS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Explore Together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728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Psychology of Excellence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how the mind works is the first step to mastering it. We explore cognitive biases, decision-making, and the psychology behind peak performance.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749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Cognitive Biases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4069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Decision Making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4389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Peak Performance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4709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Mental Models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0" y="1463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297680" y="219456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&amp; Energy Mastery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297680" y="269748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management is energy management. Learn frameworks from the world's top performers to structure your days, weeks, and life for maximum impact.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97680" y="3749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Energy Management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97680" y="4069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Deep Work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297680" y="4389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Pomodoro+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97680" y="4709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Life Design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0" y="1463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8046720" y="219456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Spiritual Dimension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046720" y="269748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Purpose, meaning, and inner peace. The best engineers we know have found balance between ambition and contentment.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720" y="3749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Finding Purpose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46720" y="4069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Inner Peace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46720" y="4389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Mindfulness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46720" y="4709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Giving Back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ONE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Psychology of Excellence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3566160" cy="1280160"/>
          </a:xfrm>
          <a:prstGeom prst="rect">
            <a:avLst/>
          </a:prstGeom>
          <a:noFill/>
          <a:ln w="6350">
            <a:solidFill>
              <a:srgbClr val="7171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17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Biases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50+ biases that cloud your judgment and learn to recognize them in real-time.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7680" y="1280160"/>
            <a:ext cx="3566160" cy="1280160"/>
          </a:xfrm>
          <a:prstGeom prst="rect">
            <a:avLst/>
          </a:prstGeom>
          <a:noFill/>
          <a:ln w="6350">
            <a:solidFill>
              <a:srgbClr val="7171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417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Frameworks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80560" y="178308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principles thinking, inversion, and second-order effects for better choices.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46720" y="1280160"/>
            <a:ext cx="3566160" cy="1280160"/>
          </a:xfrm>
          <a:prstGeom prst="rect">
            <a:avLst/>
          </a:prstGeom>
          <a:noFill/>
          <a:ln w="6350">
            <a:solidFill>
              <a:srgbClr val="7171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417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States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0" y="178308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 peak performance by engineering your environment for deep focus.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743200"/>
            <a:ext cx="3566160" cy="1280160"/>
          </a:xfrm>
          <a:prstGeom prst="rect">
            <a:avLst/>
          </a:prstGeom>
          <a:noFill/>
          <a:ln w="6350">
            <a:solidFill>
              <a:srgbClr val="7171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880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Emotional Intelligence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24612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self-awareness, self-regulation, and social skills for leadership.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97680" y="2743200"/>
            <a:ext cx="3566160" cy="1280160"/>
          </a:xfrm>
          <a:prstGeom prst="rect">
            <a:avLst/>
          </a:prstGeom>
          <a:noFill/>
          <a:ln w="6350">
            <a:solidFill>
              <a:srgbClr val="7171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2880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Mindset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480560" y="324612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failures into feedback and challenges into opportunities.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46720" y="2743200"/>
            <a:ext cx="3566160" cy="1280160"/>
          </a:xfrm>
          <a:prstGeom prst="rect">
            <a:avLst/>
          </a:prstGeom>
          <a:noFill/>
          <a:ln w="6350">
            <a:solidFill>
              <a:srgbClr val="7171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0" y="2880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 Engineering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0" y="324612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systems that make good habits automatic and bad habits impossible.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4805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"Your brain is a supercomputer. Learn to program it."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TWO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&amp; Energy Mastery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don't have a time management problem.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have an energy management problem.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Working 12+ hours but feeling unproductive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Constant context switching killing deep work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Burnout cycles that destroy consistency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Procrastination despite knowing better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0" y="1280160"/>
            <a:ext cx="5486400" cy="3200400"/>
          </a:xfrm>
          <a:prstGeom prst="rect">
            <a:avLst/>
          </a:prstGeom>
          <a:solidFill>
            <a:srgbClr val="FAFAFA"/>
          </a:solidFill>
          <a:ln w="12700">
            <a:solidFill>
              <a:srgbClr val="1818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463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MINDMASTER WAY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7920" y="1920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Energy Audits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2148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your peak hours and protect them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0" y="2468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Deep Work Blocks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2240" y="2697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hours of focus &gt; 12 hours of chaos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0" y="3017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Strategic Recovery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3246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is a skill, not a weakness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17920" y="3566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Weekly Reviews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3794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 compounds improvement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THREE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Spiritual Dimension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728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0515600" cy="1188720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"What's the point of building great software if you're building a miserable life?"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2560320" cy="1645920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6324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361188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397764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your 'why' beyond the paycheck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2926080"/>
            <a:ext cx="2560320" cy="1645920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306324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🙏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91840" y="361188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Gratitude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9000" y="397764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antidote to ambition's dark side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2926080"/>
            <a:ext cx="2560320" cy="1645920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0" y="306324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035040" y="361188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72200" y="397764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Giving back multiplies meaning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778240" y="2926080"/>
            <a:ext cx="2560320" cy="1645920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20" name="Text 18"/>
          <p:cNvSpPr/>
          <p:nvPr/>
        </p:nvSpPr>
        <p:spPr>
          <a:xfrm>
            <a:off x="8778240" y="306324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☮️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778240" y="361188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915400" y="397764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 calm in a chaotic industry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CURATED CONTENT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&amp; Monthly Picks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5212080" cy="3200400"/>
          </a:xfrm>
          <a:prstGeom prst="rect">
            <a:avLst/>
          </a:prstGeom>
          <a:noFill/>
          <a:ln w="19050">
            <a:solidFill>
              <a:srgbClr val="18181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80160"/>
            <a:ext cx="5212080" cy="41148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OF THE WEEK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🎬 Featured Video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28600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week, we curate the most impactful talk on psychology, productivity, or personal growth.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017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→ Reflect → Discuss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33756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talk comes with guided reflection questions and community discussion.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1280160"/>
            <a:ext cx="5212080" cy="3200400"/>
          </a:xfrm>
          <a:prstGeom prst="rect">
            <a:avLst/>
          </a:prstGeom>
          <a:noFill/>
          <a:ln w="19050">
            <a:solidFill>
              <a:srgbClr val="EAB30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280160"/>
            <a:ext cx="5212080" cy="41148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OF THE MONTH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0" y="1920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Premium Deep Dive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228600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Monthly, we select a transformative piece that deserves extended study and practice.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3017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Implementation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333756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 a 30-day challenge to actually implement what you've learned.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LIST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Books That Changed Us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3566160" cy="1371600"/>
          </a:xfrm>
          <a:prstGeom prst="rect">
            <a:avLst/>
          </a:prstGeom>
          <a:solidFill>
            <a:srgbClr val="FAFAF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80160"/>
            <a:ext cx="356616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4416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PSYCHOLOGY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1520" y="1783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Habits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148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James Clear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0" y="1280160"/>
            <a:ext cx="3566160" cy="1371600"/>
          </a:xfrm>
          <a:prstGeom prst="rect">
            <a:avLst/>
          </a:prstGeom>
          <a:solidFill>
            <a:srgbClr val="FAFAF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1280160"/>
            <a:ext cx="356616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134416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MASTERY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480560" y="1783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Work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80560" y="2148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Cal Newport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46720" y="1280160"/>
            <a:ext cx="3566160" cy="1371600"/>
          </a:xfrm>
          <a:prstGeom prst="rect">
            <a:avLst/>
          </a:prstGeom>
          <a:solidFill>
            <a:srgbClr val="FAFAFA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1280160"/>
            <a:ext cx="3566160" cy="320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0" y="134416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SPIRITUAL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1783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Man's Search for Meaning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0" y="2148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Viktor Frankl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2834640"/>
            <a:ext cx="3566160" cy="1371600"/>
          </a:xfrm>
          <a:prstGeom prst="rect">
            <a:avLst/>
          </a:prstGeom>
          <a:solidFill>
            <a:srgbClr val="FAFAF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2834640"/>
            <a:ext cx="356616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289864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PSYCHOLOGY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31520" y="33375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Thinking, Fast and Slow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3703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Daniel Kahneman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97680" y="2834640"/>
            <a:ext cx="3566160" cy="1371600"/>
          </a:xfrm>
          <a:prstGeom prst="rect">
            <a:avLst/>
          </a:prstGeom>
          <a:solidFill>
            <a:srgbClr val="FAFAF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97680" y="2834640"/>
            <a:ext cx="356616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4480560" y="289864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MASTERY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480560" y="33375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7 Habits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480560" y="3703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Stephen Covey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046720" y="2834640"/>
            <a:ext cx="3566160" cy="1371600"/>
          </a:xfrm>
          <a:prstGeom prst="rect">
            <a:avLst/>
          </a:prstGeom>
          <a:solidFill>
            <a:srgbClr val="FAFAFA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46720" y="2834640"/>
            <a:ext cx="3566160" cy="320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0" y="289864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SPIRITUAL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229600" y="33375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Meditations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229600" y="3703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Marcus Aurelius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MindMaster Format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728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097280" cy="548640"/>
          </a:xfrm>
          <a:prstGeom prst="rect">
            <a:avLst/>
          </a:prstGeom>
          <a:solidFill>
            <a:srgbClr val="FEF08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0876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0" y="1417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Content Released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171907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talk + book recommendation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1097280" cy="548640"/>
          </a:xfrm>
          <a:prstGeom prst="rect">
            <a:avLst/>
          </a:prstGeom>
          <a:solidFill>
            <a:srgbClr val="FEF08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19456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TUE-THU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28800" y="2103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Self-Study Period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28800" y="240487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Watch, read, reflect independently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1097280" cy="548640"/>
          </a:xfrm>
          <a:prstGeom prst="rect">
            <a:avLst/>
          </a:prstGeom>
          <a:solidFill>
            <a:srgbClr val="FEF08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88036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28800" y="2788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Thread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28800" y="309067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insights in Discord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429000"/>
            <a:ext cx="1097280" cy="548640"/>
          </a:xfrm>
          <a:prstGeom prst="rect">
            <a:avLst/>
          </a:prstGeom>
          <a:solidFill>
            <a:srgbClr val="FEF08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56616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28800" y="3474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Session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828800" y="377647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discussion + Q&amp;A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114800"/>
            <a:ext cx="1097280" cy="548640"/>
          </a:xfrm>
          <a:prstGeom prst="rect">
            <a:avLst/>
          </a:prstGeom>
          <a:solidFill>
            <a:srgbClr val="FEF08A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25196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828800" y="4160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828800" y="446227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one insight this week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0" y="1371600"/>
            <a:ext cx="4389120" cy="3017520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0" y="1645920"/>
            <a:ext cx="3931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Consuming.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Actually Transforming.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32320" y="2560320"/>
            <a:ext cx="3931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don't just share videos and books. We create structured experiences that turn information into transformation.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32320" y="3474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engagement: 85%+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132320" y="3794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members complete weekly activities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AUDIENCE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MindMaster For?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THIS IS FOR YOU IF: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You're an engineer who wants more than technical skills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You believe personal development is as important as coding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You want a community of like-minded thinkers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You're ready to invest time in self-mastery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29184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You value depth over surface-level content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35040" y="1280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THIS IS NOT FOR YOU IF: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35040" y="164592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You only care about coding skills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35040" y="205740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You prefer passive content consumption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246888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You're not willing to engage in discussions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35040" y="288036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You want quick fixes, not real growth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0" y="329184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You're not ready to question your beliefs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023360"/>
            <a:ext cx="10698480" cy="54864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160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MindMaster is invite-only. Current members recommend engineers who would thrive in this environment.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TOPICS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We've Explored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728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566160" cy="731520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Dopamine Detox: Reclaiming Your Attention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1371600"/>
            <a:ext cx="3566160" cy="731520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0" y="155448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Art of Saying No (Without Guilt)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046720" y="1371600"/>
            <a:ext cx="3566160" cy="731520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0" y="155448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Anti-Fragile Routines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240280"/>
            <a:ext cx="3566160" cy="731520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42316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Imposter Syndrome: Friend or Foe?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2240280"/>
            <a:ext cx="3566160" cy="731520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0" y="242316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Stoic Engineer's Playbook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2240280"/>
            <a:ext cx="3566160" cy="731520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242316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Management &gt; Time Management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108960"/>
            <a:ext cx="3566160" cy="731520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29184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Meaning in Repetitive Work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97680" y="3108960"/>
            <a:ext cx="3566160" cy="731520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20" name="Text 18"/>
          <p:cNvSpPr/>
          <p:nvPr/>
        </p:nvSpPr>
        <p:spPr>
          <a:xfrm>
            <a:off x="4480560" y="329184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5AM Club: Myth or Magic?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46720" y="3108960"/>
            <a:ext cx="3566160" cy="731520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0" y="329184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Minimalism for Developers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977640"/>
            <a:ext cx="3566160" cy="731520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16052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Meditation for the Skeptical Mind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97680" y="3977640"/>
            <a:ext cx="3566160" cy="731520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26" name="Text 24"/>
          <p:cNvSpPr/>
          <p:nvPr/>
        </p:nvSpPr>
        <p:spPr>
          <a:xfrm>
            <a:off x="4480560" y="416052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Your Personal Board of Directors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046720" y="3977640"/>
            <a:ext cx="3566160" cy="731520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0" y="416052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Compound Effect of Small Choices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VOICES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Members Say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3566160" cy="256032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❝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MindMaster changed how I approach my career. It's not just about shipping code anymore—it's about building a life.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Software Engineer, FAANG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0" y="1280160"/>
            <a:ext cx="3566160" cy="256032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❝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480560" y="192024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weekly discussions are the highlight of my week. Finally, a community that talks about the things that actually matter.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80560" y="3383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Senior Developer, Startup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46720" y="1280160"/>
            <a:ext cx="3566160" cy="256032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❝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229600" y="192024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I've read hundreds of self-help books. MindMaster is the first community that helped me actually implement what I learned.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0" y="3383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Tech Lead, Remote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10698480" cy="64008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4206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468880" y="427939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Members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4206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126480" y="427939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Engagement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0" y="4206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4.9/5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784080" y="427939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Satisfaction Rating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of Something Bigger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MindMaster is part of the Dev Weekends ecosystem: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2651760" cy="1280160"/>
          </a:xfrm>
          <a:prstGeom prst="rect">
            <a:avLst/>
          </a:prstGeom>
          <a:solidFill>
            <a:srgbClr val="FAFAFA"/>
          </a:solidFill>
          <a:ln w="12700">
            <a:solidFill>
              <a:srgbClr val="7171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6596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Fellowship Program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3-month intensive training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737360"/>
            <a:ext cx="2651760" cy="128016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96596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MindMaster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233172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growth community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737360"/>
            <a:ext cx="2651760" cy="1280160"/>
          </a:xfrm>
          <a:prstGeom prst="rect">
            <a:avLst/>
          </a:prstGeom>
          <a:solidFill>
            <a:srgbClr val="FAFAFA"/>
          </a:solidFill>
          <a:ln w="12700">
            <a:solidFill>
              <a:srgbClr val="7171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96596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Mentorship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233172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1-on-1 career guidance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915400" y="1737360"/>
            <a:ext cx="2651760" cy="1280160"/>
          </a:xfrm>
          <a:prstGeom prst="rect">
            <a:avLst/>
          </a:prstGeom>
          <a:solidFill>
            <a:srgbClr val="FAFAFA"/>
          </a:solidFill>
          <a:ln w="12700">
            <a:solidFill>
              <a:srgbClr val="7171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15400" y="196596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15400" y="233172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20,000+ member network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38328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don't just teach code. We build engineers who change lives."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3840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Dev Weekends Mission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206240"/>
            <a:ext cx="10698480" cy="64008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4297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20,000+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560320" y="437083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Members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4297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800+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217920" y="437083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Engineers Trained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412480" y="4297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875520" y="437083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 Reached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MINDMASTER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Get Invited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728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0515600" cy="731520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463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Dev Weekends Community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1783080"/>
            <a:ext cx="8686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by joining our Discord and engaging with the community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10515600" cy="731520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23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45920" y="2331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 Growth Mindset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45920" y="2651760"/>
            <a:ext cx="8686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genuine interest in personal development, not just technical skills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10515600" cy="731520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291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4592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Recommended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45920" y="3520440"/>
            <a:ext cx="8686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MindMaster members recommend engineers who would thrive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10515600" cy="731520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160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45920" y="4069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 Invite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45920" y="4389120"/>
            <a:ext cx="8686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Invited members get access to the closed MindMaster channels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114800"/>
            <a:ext cx="10515600" cy="548640"/>
          </a:xfrm>
          <a:prstGeom prst="rect">
            <a:avLst/>
          </a:prstGeom>
          <a:solidFill>
            <a:srgbClr val="FEF08A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23367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We keep MindMaster invite-only to maintain the quality of discussions and community culture.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EF0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Level Up?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our weekly sessions where we watch, discuss, and learn together.</a:t>
            </a:r>
            <a:endParaRPr lang="en-US" sz="16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not just about consuming content—it's about growing with a community.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0" y="3200400"/>
            <a:ext cx="2743200" cy="6400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0" y="32918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Discord 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3200400"/>
            <a:ext cx="2743200" cy="640080"/>
          </a:xfrm>
          <a:prstGeom prst="rect">
            <a:avLst/>
          </a:prstGeom>
          <a:noFill/>
          <a:ln w="19050">
            <a:solidFill>
              <a:srgbClr val="FAFA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0" y="32918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Sessions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2062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discord.gg/devweekends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52628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devweekends.org/mindmaster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709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WEEKENDS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0" y="4956048"/>
            <a:ext cx="9144000" cy="73152"/>
          </a:xfrm>
          <a:prstGeom prst="rect">
            <a:avLst/>
          </a:prstGeom>
          <a:solidFill>
            <a:srgbClr val="FEF08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MindMaster - Beyond Code, There's the Mind</dc:title>
  <dc:subject>MindMaster Program Overview</dc:subject>
  <dc:creator>Dev Weekends</dc:creator>
  <cp:lastModifiedBy>Dev Weekends</cp:lastModifiedBy>
  <cp:revision>1</cp:revision>
  <dcterms:created xsi:type="dcterms:W3CDTF">2025-11-28T18:05:02Z</dcterms:created>
  <dcterms:modified xsi:type="dcterms:W3CDTF">2025-11-28T18:05:02Z</dcterms:modified>
</cp:coreProperties>
</file>